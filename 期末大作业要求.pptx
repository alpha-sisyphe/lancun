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3" r:id="rId2"/>
    <p:sldId id="258" r:id="rId3"/>
    <p:sldId id="259" r:id="rId4"/>
    <p:sldId id="260" r:id="rId5"/>
    <p:sldId id="256" r:id="rId6"/>
    <p:sldId id="262" r:id="rId7"/>
    <p:sldId id="261" r:id="rId8"/>
    <p:sldId id="257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95B7B-6865-4AC4-BC51-C9AC9567E1A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F60B1-4D51-44C9-8037-DA8221ADDB5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1496103" y="5489877"/>
            <a:ext cx="9199799" cy="467211"/>
          </a:xfrm>
          <a:noFill/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1433503" y="4482193"/>
            <a:ext cx="9324999" cy="958347"/>
          </a:xfrm>
        </p:spPr>
        <p:txBody>
          <a:bodyPr>
            <a:noAutofit/>
          </a:bodyPr>
          <a:lstStyle>
            <a:lvl1pPr algn="ctr">
              <a:defRPr sz="4200" baseline="0">
                <a:ln w="3175">
                  <a:solidFill>
                    <a:schemeClr val="bg1"/>
                  </a:solidFill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 Black" panose="020B0A04020102020204" pitchFamily="34" charset="0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</a:p>
        </p:txBody>
      </p:sp>
    </p:spTree>
    <p:extLst>
      <p:ext uri="{BB962C8B-B14F-4D97-AF65-F5344CB8AC3E}">
        <p14:creationId xmlns:p14="http://schemas.microsoft.com/office/powerpoint/2010/main" val="39270756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0" orient="horz" pos="1620">
          <p15:clr>
            <a:srgbClr val="FBAE40"/>
          </p15:clr>
        </p15:guide>
        <p15:guide id="2" pos="496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79" indent="-357179">
              <a:buFont typeface="Wingdings 2" panose="05020102010507070707" pitchFamily="18" charset="2"/>
              <a:buChar char=""/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95B7B-6865-4AC4-BC51-C9AC9567E1A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F60B1-4D51-44C9-8037-DA8221ADDB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947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98675" y="2108200"/>
            <a:ext cx="7994651" cy="1235075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accent1">
                    <a:lumMod val="7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4050894" y="3400424"/>
            <a:ext cx="4090217" cy="35747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95B7B-6865-4AC4-BC51-C9AC9567E1A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F60B1-4D51-44C9-8037-DA8221ADDB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98984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399823" y="1244601"/>
            <a:ext cx="5080000" cy="49323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6519334" y="1244601"/>
            <a:ext cx="5094116" cy="49323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95B7B-6865-4AC4-BC51-C9AC9567E1A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F60B1-4D51-44C9-8037-DA8221ADDB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764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2302932" y="118532"/>
            <a:ext cx="9312101" cy="71702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5" y="13763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5" y="22002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7" y="13763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7" y="22002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95B7B-6865-4AC4-BC51-C9AC9567E1A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F60B1-4D51-44C9-8037-DA8221ADDB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246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95B7B-6865-4AC4-BC51-C9AC9567E1A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F60B1-4D51-44C9-8037-DA8221ADDB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771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95B7B-6865-4AC4-BC51-C9AC9567E1A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F60B1-4D51-44C9-8037-DA8221ADDB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97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44590" y="533403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5487989" y="1063629"/>
            <a:ext cx="617220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144590" y="2133603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95B7B-6865-4AC4-BC51-C9AC9567E1A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F60B1-4D51-44C9-8037-DA8221ADDB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242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246192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5442833" y="987428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246192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95B7B-6865-4AC4-BC51-C9AC9567E1A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F60B1-4D51-44C9-8037-DA8221ADDB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737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95B7B-6865-4AC4-BC51-C9AC9567E1A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F60B1-4D51-44C9-8037-DA8221ADDB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08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90" y="365126"/>
            <a:ext cx="1182511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2113842" y="365126"/>
            <a:ext cx="7933269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95B7B-6865-4AC4-BC51-C9AC9567E1A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F60B1-4D51-44C9-8037-DA8221ADDB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098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3"/>
          <a:srcRect r="17493" b="2000"/>
          <a:stretch/>
        </p:blipFill>
        <p:spPr>
          <a:xfrm>
            <a:off x="8044544" y="4815568"/>
            <a:ext cx="4147457" cy="141378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V="1">
            <a:off x="0" y="1"/>
            <a:ext cx="12192000" cy="70779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150205"/>
            <a:ext cx="12192000" cy="707796"/>
          </a:xfrm>
          <a:prstGeom prst="rect">
            <a:avLst/>
          </a:prstGeom>
        </p:spPr>
      </p:pic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58799" y="162557"/>
            <a:ext cx="11056060" cy="6995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95B7B-6865-4AC4-BC51-C9AC9567E1A5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F60B1-4D51-44C9-8037-DA8221ADDB5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558801" y="1026615"/>
            <a:ext cx="11056060" cy="5193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164277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>
              <a:lumMod val="75000"/>
            </a:schemeClr>
          </a:solidFill>
          <a:effectLst/>
          <a:latin typeface="+mj-ea"/>
          <a:ea typeface="+mj-ea"/>
          <a:cs typeface="+mj-cs"/>
        </a:defRPr>
      </a:lvl1pPr>
    </p:titleStyle>
    <p:bodyStyle>
      <a:lvl1pPr marL="357179" indent="-357179" algn="just" defTabSz="914377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>
            <a:lumMod val="75000"/>
          </a:schemeClr>
        </a:buClr>
        <a:buSzPct val="100000"/>
        <a:buFont typeface="Wingdings 3" panose="05040102010807070707" pitchFamily="18" charset="2"/>
        <a:buChar char=""/>
        <a:defRPr sz="2000" kern="1200" baseline="0">
          <a:solidFill>
            <a:schemeClr val="accent1">
              <a:lumMod val="75000"/>
            </a:schemeClr>
          </a:solidFill>
          <a:latin typeface="+mj-ea"/>
          <a:ea typeface="+mj-ea"/>
          <a:cs typeface="+mn-cs"/>
        </a:defRPr>
      </a:lvl1pPr>
      <a:lvl2pPr marL="357179" indent="-357179" algn="just" defTabSz="914377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7D7D7D"/>
          </a:solidFill>
          <a:latin typeface="+mn-ea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juejin.cn/" TargetMode="External"/><Relationship Id="rId2" Type="http://schemas.openxmlformats.org/officeDocument/2006/relationships/hyperlink" Target="https://docschina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sdn.net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4A366AE7-DF98-463A-B6A3-3FEF344402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DB7D127-C659-4C2E-86DB-765CA1F2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期末项目作业</a:t>
            </a:r>
          </a:p>
        </p:txBody>
      </p:sp>
    </p:spTree>
    <p:extLst>
      <p:ext uri="{BB962C8B-B14F-4D97-AF65-F5344CB8AC3E}">
        <p14:creationId xmlns:p14="http://schemas.microsoft.com/office/powerpoint/2010/main" val="4242161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A8EBC-7D78-4ECD-898D-A581C210A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62557"/>
            <a:ext cx="11056060" cy="1123983"/>
          </a:xfrm>
        </p:spPr>
        <p:txBody>
          <a:bodyPr>
            <a:normAutofit/>
          </a:bodyPr>
          <a:lstStyle/>
          <a:p>
            <a:r>
              <a:rPr lang="zh-CN" altLang="en-US" dirty="0"/>
              <a:t>项目启发：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 err="1"/>
              <a:t>Javascript</a:t>
            </a:r>
            <a:r>
              <a:rPr lang="zh-CN" altLang="en-US" dirty="0"/>
              <a:t>都能做什么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D40FE7-BF30-417F-8450-DB233D021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970" y="1502231"/>
            <a:ext cx="11056060" cy="5193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JavaScript </a:t>
            </a:r>
            <a:r>
              <a:rPr lang="zh-CN" altLang="en-US" sz="2400" dirty="0"/>
              <a:t>是一种功能强大的编程语言，可以用于多种场合和目的。以下是 </a:t>
            </a:r>
            <a:r>
              <a:rPr lang="en-US" altLang="zh-CN" sz="2400" dirty="0"/>
              <a:t>JavaScript </a:t>
            </a:r>
            <a:r>
              <a:rPr lang="zh-CN" altLang="en-US" sz="2400" dirty="0"/>
              <a:t>的一些主要应用领域：</a:t>
            </a:r>
          </a:p>
          <a:p>
            <a:pPr marL="0" indent="0">
              <a:buNone/>
            </a:pPr>
            <a:r>
              <a:rPr lang="en-US" altLang="zh-CN" sz="2400" dirty="0"/>
              <a:t>1. </a:t>
            </a:r>
            <a:r>
              <a:rPr lang="en-US" altLang="zh-CN" sz="2400" b="1" dirty="0">
                <a:solidFill>
                  <a:srgbClr val="FF0000"/>
                </a:solidFill>
              </a:rPr>
              <a:t>Web</a:t>
            </a:r>
            <a:r>
              <a:rPr lang="zh-CN" altLang="en-US" sz="2400" b="1" dirty="0">
                <a:solidFill>
                  <a:srgbClr val="FF0000"/>
                </a:solidFill>
              </a:rPr>
              <a:t>开发</a:t>
            </a:r>
            <a:r>
              <a:rPr lang="zh-CN" altLang="en-US" sz="2400" dirty="0"/>
              <a:t>：</a:t>
            </a:r>
          </a:p>
          <a:p>
            <a:pPr marL="0" indent="0">
              <a:buNone/>
            </a:pPr>
            <a:r>
              <a:rPr lang="zh-CN" altLang="en-US" sz="2400" dirty="0"/>
              <a:t>   </a:t>
            </a:r>
            <a:r>
              <a:rPr lang="en-US" altLang="zh-CN" sz="2400" dirty="0"/>
              <a:t>- </a:t>
            </a:r>
            <a:r>
              <a:rPr lang="zh-CN" altLang="en-US" sz="2400" b="1" dirty="0">
                <a:solidFill>
                  <a:srgbClr val="FF0000"/>
                </a:solidFill>
              </a:rPr>
              <a:t>前端</a:t>
            </a:r>
            <a:r>
              <a:rPr lang="zh-CN" altLang="en-US" sz="2400" dirty="0"/>
              <a:t>：</a:t>
            </a:r>
            <a:r>
              <a:rPr lang="en-US" altLang="zh-CN" sz="2400" dirty="0"/>
              <a:t>JavaScript </a:t>
            </a:r>
            <a:r>
              <a:rPr lang="zh-CN" altLang="en-US" sz="2400" dirty="0"/>
              <a:t>是网页的核心技术之一，与 </a:t>
            </a:r>
            <a:r>
              <a:rPr lang="en-US" altLang="zh-CN" sz="2400" dirty="0"/>
              <a:t>HTML </a:t>
            </a:r>
            <a:r>
              <a:rPr lang="zh-CN" altLang="en-US" sz="2400" dirty="0"/>
              <a:t>和 </a:t>
            </a:r>
            <a:r>
              <a:rPr lang="en-US" altLang="zh-CN" sz="2400" dirty="0"/>
              <a:t>CSS </a:t>
            </a:r>
            <a:r>
              <a:rPr lang="zh-CN" altLang="en-US" sz="2400" dirty="0"/>
              <a:t>协同工作，用于创建动态和互动的用户界面。你可以使用 </a:t>
            </a:r>
            <a:r>
              <a:rPr lang="en-US" altLang="zh-CN" sz="2400" dirty="0"/>
              <a:t>JavaScript </a:t>
            </a:r>
            <a:r>
              <a:rPr lang="zh-CN" altLang="en-US" sz="2400" dirty="0"/>
              <a:t>来响应用户的操作、验证表单数据、创建动画效果等。</a:t>
            </a:r>
          </a:p>
          <a:p>
            <a:pPr marL="0" indent="0">
              <a:buNone/>
            </a:pPr>
            <a:r>
              <a:rPr lang="zh-CN" altLang="en-US" sz="2400" dirty="0"/>
              <a:t>   </a:t>
            </a:r>
            <a:r>
              <a:rPr lang="en-US" altLang="zh-CN" sz="2400" dirty="0"/>
              <a:t>- </a:t>
            </a:r>
            <a:r>
              <a:rPr lang="zh-CN" altLang="en-US" sz="2400" b="1" dirty="0">
                <a:solidFill>
                  <a:srgbClr val="FF0000"/>
                </a:solidFill>
              </a:rPr>
              <a:t>后端</a:t>
            </a:r>
            <a:r>
              <a:rPr lang="zh-CN" altLang="en-US" sz="2400" dirty="0"/>
              <a:t>：通过 </a:t>
            </a:r>
            <a:r>
              <a:rPr lang="en-US" altLang="zh-CN" sz="2400" dirty="0"/>
              <a:t>Node.js</a:t>
            </a:r>
            <a:r>
              <a:rPr lang="zh-CN" altLang="en-US" sz="2400" dirty="0"/>
              <a:t>，</a:t>
            </a:r>
            <a:r>
              <a:rPr lang="en-US" altLang="zh-CN" sz="2400" dirty="0"/>
              <a:t>JavaScript </a:t>
            </a:r>
            <a:r>
              <a:rPr lang="zh-CN" altLang="en-US" sz="2400" dirty="0"/>
              <a:t>可以在服务器端运行，处理 </a:t>
            </a:r>
            <a:r>
              <a:rPr lang="en-US" altLang="zh-CN" sz="2400" dirty="0"/>
              <a:t>HTTP </a:t>
            </a:r>
            <a:r>
              <a:rPr lang="zh-CN" altLang="en-US" sz="2400" dirty="0"/>
              <a:t>请求、数据库操作等。</a:t>
            </a:r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97548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1AE988-8CCD-47FF-B257-069F75BA9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1" y="457200"/>
            <a:ext cx="11056060" cy="57626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移动应用开发：</a:t>
            </a:r>
          </a:p>
          <a:p>
            <a:pPr marL="0" indent="0">
              <a:buNone/>
            </a:pPr>
            <a:r>
              <a:rPr lang="zh-CN" altLang="en-US" sz="2400" dirty="0"/>
              <a:t>   </a:t>
            </a:r>
            <a:r>
              <a:rPr lang="en-US" altLang="zh-CN" sz="2400" dirty="0"/>
              <a:t>- </a:t>
            </a:r>
            <a:r>
              <a:rPr lang="zh-CN" altLang="en-US" sz="2400" dirty="0"/>
              <a:t>使用框架如 </a:t>
            </a:r>
            <a:r>
              <a:rPr lang="en-US" altLang="zh-CN" sz="2400" dirty="0"/>
              <a:t>React Native </a:t>
            </a:r>
            <a:r>
              <a:rPr lang="zh-CN" altLang="en-US" sz="2400" dirty="0"/>
              <a:t>或 </a:t>
            </a:r>
            <a:r>
              <a:rPr lang="en-US" altLang="zh-CN" sz="2400" dirty="0"/>
              <a:t>Ionic</a:t>
            </a:r>
            <a:r>
              <a:rPr lang="zh-CN" altLang="en-US" sz="2400" dirty="0"/>
              <a:t>，你可以用 </a:t>
            </a:r>
            <a:r>
              <a:rPr lang="en-US" altLang="zh-CN" sz="2400" dirty="0"/>
              <a:t>JavaScript </a:t>
            </a:r>
            <a:r>
              <a:rPr lang="zh-CN" altLang="en-US" sz="2400" dirty="0"/>
              <a:t>开发跨平台的移动应用程序。</a:t>
            </a:r>
          </a:p>
          <a:p>
            <a:pPr marL="0" indent="0">
              <a:buNone/>
            </a:pPr>
            <a:r>
              <a:rPr lang="en-US" altLang="zh-CN" sz="2400" dirty="0"/>
              <a:t>3. </a:t>
            </a:r>
            <a:r>
              <a:rPr lang="zh-CN" altLang="en-US" sz="2400" dirty="0"/>
              <a:t>桌面应用开发：</a:t>
            </a:r>
          </a:p>
          <a:p>
            <a:pPr marL="0" indent="0">
              <a:buNone/>
            </a:pPr>
            <a:r>
              <a:rPr lang="zh-CN" altLang="en-US" sz="2400" dirty="0"/>
              <a:t>   </a:t>
            </a:r>
            <a:r>
              <a:rPr lang="en-US" altLang="zh-CN" sz="2400" dirty="0"/>
              <a:t>- </a:t>
            </a:r>
            <a:r>
              <a:rPr lang="zh-CN" altLang="en-US" sz="2400" dirty="0"/>
              <a:t>通过 </a:t>
            </a:r>
            <a:r>
              <a:rPr lang="en-US" altLang="zh-CN" sz="2400" dirty="0"/>
              <a:t>Electron </a:t>
            </a:r>
            <a:r>
              <a:rPr lang="zh-CN" altLang="en-US" sz="2400" dirty="0"/>
              <a:t>或 </a:t>
            </a:r>
            <a:r>
              <a:rPr lang="en-US" altLang="zh-CN" sz="2400" dirty="0"/>
              <a:t>NW.js </a:t>
            </a:r>
            <a:r>
              <a:rPr lang="zh-CN" altLang="en-US" sz="2400" dirty="0"/>
              <a:t>等框架，</a:t>
            </a:r>
            <a:r>
              <a:rPr lang="en-US" altLang="zh-CN" sz="2400" dirty="0"/>
              <a:t>JavaScript </a:t>
            </a:r>
            <a:r>
              <a:rPr lang="zh-CN" altLang="en-US" sz="2400" dirty="0"/>
              <a:t>可以用于创建跨平台的桌面应用程序。</a:t>
            </a:r>
          </a:p>
          <a:p>
            <a:pPr marL="0" indent="0">
              <a:buNone/>
            </a:pPr>
            <a:r>
              <a:rPr lang="en-US" altLang="zh-CN" sz="2400" dirty="0"/>
              <a:t>4. </a:t>
            </a:r>
            <a:r>
              <a:rPr lang="zh-CN" altLang="en-US" sz="2400" dirty="0"/>
              <a:t>游戏开发：</a:t>
            </a:r>
          </a:p>
          <a:p>
            <a:pPr marL="0" indent="0">
              <a:buNone/>
            </a:pPr>
            <a:r>
              <a:rPr lang="zh-CN" altLang="en-US" sz="2400" dirty="0"/>
              <a:t>   </a:t>
            </a:r>
            <a:r>
              <a:rPr lang="en-US" altLang="zh-CN" sz="2400" dirty="0"/>
              <a:t>- JavaScript </a:t>
            </a:r>
            <a:r>
              <a:rPr lang="zh-CN" altLang="en-US" sz="2400" dirty="0"/>
              <a:t>可以与 </a:t>
            </a:r>
            <a:r>
              <a:rPr lang="en-US" altLang="zh-CN" sz="2400" dirty="0"/>
              <a:t>HTML5 Canvas API </a:t>
            </a:r>
            <a:r>
              <a:rPr lang="zh-CN" altLang="en-US" sz="2400" dirty="0"/>
              <a:t>或 </a:t>
            </a:r>
            <a:r>
              <a:rPr lang="en-US" altLang="zh-CN" sz="2400" dirty="0"/>
              <a:t>WebGL </a:t>
            </a:r>
            <a:r>
              <a:rPr lang="zh-CN" altLang="en-US" sz="2400" dirty="0"/>
              <a:t>结合，用于开发网页游戏。</a:t>
            </a:r>
          </a:p>
          <a:p>
            <a:pPr marL="0" indent="0">
              <a:buNone/>
            </a:pPr>
            <a:r>
              <a:rPr lang="en-US" altLang="zh-CN" sz="2400" dirty="0"/>
              <a:t>5. </a:t>
            </a:r>
            <a:r>
              <a:rPr lang="zh-CN" altLang="en-US" sz="2400" dirty="0"/>
              <a:t>服务器端脚本：</a:t>
            </a:r>
          </a:p>
          <a:p>
            <a:pPr marL="0" indent="0">
              <a:buNone/>
            </a:pPr>
            <a:r>
              <a:rPr lang="zh-CN" altLang="en-US" sz="2400" dirty="0"/>
              <a:t>   </a:t>
            </a:r>
            <a:r>
              <a:rPr lang="en-US" altLang="zh-CN" sz="2400" dirty="0"/>
              <a:t>- Node.js </a:t>
            </a:r>
            <a:r>
              <a:rPr lang="zh-CN" altLang="en-US" sz="2400" dirty="0"/>
              <a:t>允许你使用 </a:t>
            </a:r>
            <a:r>
              <a:rPr lang="en-US" altLang="zh-CN" sz="2400" dirty="0"/>
              <a:t>JavaScript </a:t>
            </a:r>
            <a:r>
              <a:rPr lang="zh-CN" altLang="en-US" sz="2400" dirty="0"/>
              <a:t>编写服务器端脚本，处理文件、网络通信、数据库操作等</a:t>
            </a:r>
            <a:r>
              <a:rPr lang="en-US" altLang="zh-CN" sz="2400" dirty="0"/>
              <a:t>(</a:t>
            </a:r>
            <a:r>
              <a:rPr lang="zh-CN" altLang="en-US" sz="2400" dirty="0"/>
              <a:t>与</a:t>
            </a:r>
            <a:r>
              <a:rPr lang="en-US" altLang="zh-CN" sz="2400" dirty="0"/>
              <a:t>web</a:t>
            </a:r>
            <a:r>
              <a:rPr lang="zh-CN" altLang="en-US" sz="2400" dirty="0"/>
              <a:t>后端类似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47210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C1329C-F186-4044-A77C-6604BA01C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1" y="404037"/>
            <a:ext cx="11056060" cy="581579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/>
              <a:t>6. </a:t>
            </a:r>
            <a:r>
              <a:rPr lang="zh-CN" altLang="en-US" sz="4000" b="1" dirty="0">
                <a:solidFill>
                  <a:srgbClr val="FF0000"/>
                </a:solidFill>
              </a:rPr>
              <a:t>数据库操作</a:t>
            </a:r>
            <a:r>
              <a:rPr lang="zh-CN" altLang="en-US" dirty="0"/>
              <a:t>：</a:t>
            </a:r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- JavaScript </a:t>
            </a:r>
            <a:r>
              <a:rPr lang="zh-CN" altLang="en-US" dirty="0"/>
              <a:t>可以与多种数据库交互，如 </a:t>
            </a:r>
            <a:r>
              <a:rPr lang="en-US" altLang="zh-CN" dirty="0"/>
              <a:t>MongoDB</a:t>
            </a:r>
            <a:r>
              <a:rPr lang="zh-CN" altLang="en-US" dirty="0"/>
              <a:t>（</a:t>
            </a:r>
            <a:r>
              <a:rPr lang="en-US" altLang="zh-CN" dirty="0"/>
              <a:t>NoSQL</a:t>
            </a:r>
            <a:r>
              <a:rPr lang="zh-CN" altLang="en-US" dirty="0"/>
              <a:t>）或 </a:t>
            </a:r>
            <a:r>
              <a:rPr lang="en-US" altLang="zh-CN" b="1" dirty="0">
                <a:solidFill>
                  <a:srgbClr val="FF0000"/>
                </a:solidFill>
              </a:rPr>
              <a:t>MySQL</a:t>
            </a:r>
            <a:r>
              <a:rPr lang="zh-CN" altLang="en-US" b="1" dirty="0">
                <a:solidFill>
                  <a:srgbClr val="FF0000"/>
                </a:solidFill>
              </a:rPr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SQL</a:t>
            </a:r>
            <a:r>
              <a:rPr lang="zh-CN" altLang="en-US" b="1" dirty="0">
                <a:solidFill>
                  <a:srgbClr val="FF0000"/>
                </a:solidFill>
              </a:rPr>
              <a:t>），</a:t>
            </a:r>
            <a:r>
              <a:rPr lang="zh-CN" altLang="en-US" dirty="0"/>
              <a:t>进行数据存储和检索。</a:t>
            </a:r>
          </a:p>
          <a:p>
            <a:pPr marL="0" indent="0">
              <a:buNone/>
            </a:pPr>
            <a:r>
              <a:rPr lang="en-US" altLang="zh-CN" dirty="0"/>
              <a:t>7. </a:t>
            </a:r>
            <a:r>
              <a:rPr lang="zh-CN" altLang="en-US" dirty="0"/>
              <a:t>物联网（</a:t>
            </a:r>
            <a:r>
              <a:rPr lang="en-US" altLang="zh-CN" dirty="0"/>
              <a:t>IoT</a:t>
            </a:r>
            <a:r>
              <a:rPr lang="zh-CN" altLang="en-US" dirty="0"/>
              <a:t>）：</a:t>
            </a:r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- JavaScript </a:t>
            </a:r>
            <a:r>
              <a:rPr lang="zh-CN" altLang="en-US" dirty="0"/>
              <a:t>可以用于开发物联网设备的应用程序，通过 </a:t>
            </a:r>
            <a:r>
              <a:rPr lang="en-US" altLang="zh-CN" dirty="0"/>
              <a:t>Node.js </a:t>
            </a:r>
            <a:r>
              <a:rPr lang="zh-CN" altLang="en-US" dirty="0"/>
              <a:t>运行在微控制器上。</a:t>
            </a:r>
          </a:p>
          <a:p>
            <a:pPr marL="0" indent="0">
              <a:buNone/>
            </a:pPr>
            <a:r>
              <a:rPr lang="en-US" altLang="zh-CN" dirty="0"/>
              <a:t>8. </a:t>
            </a:r>
            <a:r>
              <a:rPr lang="zh-CN" altLang="en-US" dirty="0"/>
              <a:t>机器学习与人工智能：</a:t>
            </a:r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- JavaScript </a:t>
            </a:r>
            <a:r>
              <a:rPr lang="zh-CN" altLang="en-US" dirty="0"/>
              <a:t>可以用于简单的机器学习任务，尽管不如 </a:t>
            </a:r>
            <a:r>
              <a:rPr lang="en-US" altLang="zh-CN" dirty="0"/>
              <a:t>Python </a:t>
            </a:r>
            <a:r>
              <a:rPr lang="zh-CN" altLang="en-US" dirty="0"/>
              <a:t>那样广泛，但有一些库如 </a:t>
            </a:r>
            <a:r>
              <a:rPr lang="en-US" altLang="zh-CN" dirty="0"/>
              <a:t>TensorFlow.js </a:t>
            </a:r>
            <a:r>
              <a:rPr lang="zh-CN" altLang="en-US" dirty="0"/>
              <a:t>可以在浏览器中进行机器学习。</a:t>
            </a:r>
          </a:p>
          <a:p>
            <a:pPr marL="0" indent="0">
              <a:buNone/>
            </a:pPr>
            <a:r>
              <a:rPr lang="en-US" altLang="zh-CN" dirty="0"/>
              <a:t>9. </a:t>
            </a:r>
            <a:r>
              <a:rPr lang="zh-CN" altLang="en-US" dirty="0"/>
              <a:t>云计算与服务器</a:t>
            </a:r>
            <a:r>
              <a:rPr lang="en-US" altLang="zh-CN" dirty="0"/>
              <a:t>less</a:t>
            </a:r>
            <a:r>
              <a:rPr lang="zh-CN" altLang="en-US" dirty="0"/>
              <a:t>架构：</a:t>
            </a:r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- JavaScript </a:t>
            </a:r>
            <a:r>
              <a:rPr lang="zh-CN" altLang="en-US" dirty="0"/>
              <a:t>可以在云函数（如 </a:t>
            </a:r>
            <a:r>
              <a:rPr lang="en-US" altLang="zh-CN" dirty="0"/>
              <a:t>AWS Lambda</a:t>
            </a:r>
            <a:r>
              <a:rPr lang="zh-CN" altLang="en-US" dirty="0"/>
              <a:t>、</a:t>
            </a:r>
            <a:r>
              <a:rPr lang="en-US" altLang="zh-CN" dirty="0"/>
              <a:t>Google Cloud Functions</a:t>
            </a:r>
            <a:r>
              <a:rPr lang="zh-CN" altLang="en-US" dirty="0"/>
              <a:t>）中运行，支持 </a:t>
            </a:r>
            <a:r>
              <a:rPr lang="en-US" altLang="zh-CN" dirty="0"/>
              <a:t>serverless </a:t>
            </a:r>
            <a:r>
              <a:rPr lang="zh-CN" altLang="en-US" dirty="0"/>
              <a:t>架构。</a:t>
            </a:r>
          </a:p>
          <a:p>
            <a:pPr marL="0" indent="0">
              <a:buNone/>
            </a:pPr>
            <a:r>
              <a:rPr lang="en-US" altLang="zh-CN" dirty="0"/>
              <a:t>10. </a:t>
            </a:r>
            <a:r>
              <a:rPr lang="zh-CN" altLang="en-US" dirty="0">
                <a:solidFill>
                  <a:schemeClr val="accent2"/>
                </a:solidFill>
              </a:rPr>
              <a:t>网络爬虫和数据抓取</a:t>
            </a:r>
            <a:r>
              <a:rPr lang="zh-CN" altLang="en-US" dirty="0"/>
              <a:t>：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- JavaScript </a:t>
            </a:r>
            <a:r>
              <a:rPr lang="zh-CN" altLang="en-US" dirty="0"/>
              <a:t>可以用于编写爬虫程序，抓取网页数据，尽管它在服务器端运行时更为常见。</a:t>
            </a:r>
          </a:p>
        </p:txBody>
      </p:sp>
    </p:spTree>
    <p:extLst>
      <p:ext uri="{BB962C8B-B14F-4D97-AF65-F5344CB8AC3E}">
        <p14:creationId xmlns:p14="http://schemas.microsoft.com/office/powerpoint/2010/main" val="3358727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4A366AE7-DF98-463A-B6A3-3FEF344402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DB7D127-C659-4C2E-86DB-765CA1F2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期末项目作业</a:t>
            </a:r>
          </a:p>
        </p:txBody>
      </p:sp>
    </p:spTree>
    <p:extLst>
      <p:ext uri="{BB962C8B-B14F-4D97-AF65-F5344CB8AC3E}">
        <p14:creationId xmlns:p14="http://schemas.microsoft.com/office/powerpoint/2010/main" val="3027932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1A926A-6346-4214-9E43-09BF7F550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409" y="85060"/>
            <a:ext cx="11272284" cy="6655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分阶段完成期末大作业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一、要求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自定主题，设计一个</a:t>
            </a:r>
            <a:r>
              <a:rPr lang="en-US" altLang="zh-CN" dirty="0"/>
              <a:t>web</a:t>
            </a:r>
            <a:r>
              <a:rPr lang="zh-CN" altLang="en-US" dirty="0"/>
              <a:t>站点，要求：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、基于</a:t>
            </a:r>
            <a:r>
              <a:rPr lang="en-US" altLang="zh-CN" dirty="0" err="1"/>
              <a:t>javascript+html+css</a:t>
            </a:r>
            <a:r>
              <a:rPr lang="zh-CN" altLang="en-US" dirty="0"/>
              <a:t>技术。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、具有图、表格、文字、</a:t>
            </a:r>
            <a:r>
              <a:rPr lang="zh-CN" altLang="en-US" dirty="0" smtClean="0"/>
              <a:t>链接、表单。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、具有数据显示（可以来自文件、爬虫或数据库等）。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</a:t>
            </a:r>
            <a:r>
              <a:rPr lang="zh-CN" altLang="en-US" dirty="0"/>
              <a:t>、至少</a:t>
            </a:r>
            <a:r>
              <a:rPr lang="en-US" altLang="zh-CN" dirty="0"/>
              <a:t>3</a:t>
            </a:r>
            <a:r>
              <a:rPr lang="zh-CN" altLang="en-US" dirty="0"/>
              <a:t>个页面。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二、日程安排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 smtClean="0"/>
              <a:t>、介绍期末要求（</a:t>
            </a:r>
            <a:r>
              <a:rPr lang="en-US" altLang="zh-CN" dirty="0" smtClean="0"/>
              <a:t>7</a:t>
            </a:r>
            <a:r>
              <a:rPr lang="zh-CN" altLang="en-US" dirty="0" smtClean="0"/>
              <a:t>月</a:t>
            </a:r>
            <a:r>
              <a:rPr lang="en-US" altLang="zh-CN" dirty="0" smtClean="0"/>
              <a:t>16</a:t>
            </a:r>
            <a:r>
              <a:rPr lang="zh-CN" altLang="en-US" dirty="0" smtClean="0"/>
              <a:t>日）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 smtClean="0"/>
              <a:t>、中期作品</a:t>
            </a:r>
            <a:r>
              <a:rPr lang="en-US" altLang="zh-CN" dirty="0" smtClean="0"/>
              <a:t>+</a:t>
            </a:r>
            <a:r>
              <a:rPr lang="zh-CN" altLang="en-US" dirty="0" smtClean="0"/>
              <a:t>实验报告草稿</a:t>
            </a:r>
            <a:r>
              <a:rPr lang="zh-CN" altLang="en-US" dirty="0"/>
              <a:t>（</a:t>
            </a:r>
            <a:r>
              <a:rPr lang="en-US" altLang="zh-CN" dirty="0" smtClean="0"/>
              <a:t>7</a:t>
            </a:r>
            <a:r>
              <a:rPr lang="zh-CN" altLang="en-US" dirty="0" smtClean="0"/>
              <a:t>月</a:t>
            </a:r>
            <a:r>
              <a:rPr lang="en-US" altLang="zh-CN" dirty="0" smtClean="0"/>
              <a:t>20</a:t>
            </a:r>
            <a:r>
              <a:rPr lang="zh-CN" altLang="en-US" dirty="0" smtClean="0"/>
              <a:t>日，指导用，计考勤</a:t>
            </a:r>
            <a:r>
              <a:rPr lang="en-US" altLang="zh-CN" dirty="0" smtClean="0"/>
              <a:t>1</a:t>
            </a:r>
            <a:r>
              <a:rPr lang="zh-CN" altLang="en-US" dirty="0" smtClean="0"/>
              <a:t>次）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zh-CN" altLang="en-US" dirty="0"/>
              <a:t>提交最终作品（</a:t>
            </a:r>
            <a:r>
              <a:rPr lang="en-US" altLang="zh-CN" dirty="0" smtClean="0"/>
              <a:t>7</a:t>
            </a:r>
            <a:r>
              <a:rPr lang="zh-CN" altLang="en-US" dirty="0" smtClean="0"/>
              <a:t>月</a:t>
            </a:r>
            <a:r>
              <a:rPr lang="en-US" altLang="zh-CN" dirty="0" smtClean="0"/>
              <a:t>23</a:t>
            </a:r>
            <a:r>
              <a:rPr lang="zh-CN" altLang="en-US" dirty="0" smtClean="0"/>
              <a:t>日）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0150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C5233A-018F-4014-923E-61F0A9B7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0576"/>
            <a:ext cx="10515600" cy="698131"/>
          </a:xfrm>
        </p:spPr>
        <p:txBody>
          <a:bodyPr/>
          <a:lstStyle/>
          <a:p>
            <a:r>
              <a:rPr lang="zh-CN" altLang="en-US" dirty="0"/>
              <a:t>评分标准</a:t>
            </a:r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58A39362-1E77-48B7-BA82-52B8ECF40F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7335758"/>
              </p:ext>
            </p:extLst>
          </p:nvPr>
        </p:nvGraphicFramePr>
        <p:xfrm>
          <a:off x="434163" y="899160"/>
          <a:ext cx="10515599" cy="576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944">
                  <a:extLst>
                    <a:ext uri="{9D8B030D-6E8A-4147-A177-3AD203B41FA5}">
                      <a16:colId xmlns:a16="http://schemas.microsoft.com/office/drawing/2014/main" val="1285601375"/>
                    </a:ext>
                  </a:extLst>
                </a:gridCol>
                <a:gridCol w="2444662">
                  <a:extLst>
                    <a:ext uri="{9D8B030D-6E8A-4147-A177-3AD203B41FA5}">
                      <a16:colId xmlns:a16="http://schemas.microsoft.com/office/drawing/2014/main" val="2562257634"/>
                    </a:ext>
                  </a:extLst>
                </a:gridCol>
                <a:gridCol w="6771993">
                  <a:extLst>
                    <a:ext uri="{9D8B030D-6E8A-4147-A177-3AD203B41FA5}">
                      <a16:colId xmlns:a16="http://schemas.microsoft.com/office/drawing/2014/main" val="4096896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一级指标（占比）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二级指标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172518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zh-CN" altLang="en-US" dirty="0"/>
                        <a:t>基准要求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80%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主题及原创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作品属于个人工作。选题来源于专业领域和社会生活，体现时代感和新意，有应用前景和价值。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作品符合社会道德法律规范，引用数据、图片、参考代码等应注明出处。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74536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功能效果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紧密围绕功能和主题进行设计，任务目标明确，程序运行稳定，有独特风格。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功能设计准确合理、用户友好。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56462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技术实现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系统技术路线合理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方案合理，程序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算法等设计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选择合理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须基于</a:t>
                      </a:r>
                      <a:r>
                        <a:rPr lang="en-US" altLang="zh-CN" dirty="0" err="1"/>
                        <a:t>javascript+html+css</a:t>
                      </a:r>
                      <a:r>
                        <a:rPr lang="zh-CN" altLang="en-US" dirty="0"/>
                        <a:t>技术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89405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作品呈现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运行稳定、流畅、软硬件资源调配合理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界面设计美观，符合受众需求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作品情况表逻辑清晰、图片清楚、功能描述完整，技术描述准确。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443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 加分项</a:t>
                      </a:r>
                    </a:p>
                    <a:p>
                      <a:r>
                        <a:rPr lang="zh-CN" altLang="en-US" dirty="0"/>
                        <a:t>（</a:t>
                      </a:r>
                      <a:r>
                        <a:rPr lang="en-US" altLang="zh-CN" dirty="0"/>
                        <a:t>20%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mtClean="0"/>
                        <a:t>数据显示</a:t>
                      </a:r>
                      <a:endParaRPr lang="en-US" altLang="zh-C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dirty="0"/>
                        <a:t>界面美观、主题独特</a:t>
                      </a:r>
                      <a:endParaRPr lang="en-US" altLang="zh-CN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dirty="0" err="1"/>
                        <a:t>Javascript</a:t>
                      </a:r>
                      <a:r>
                        <a:rPr lang="zh-CN" altLang="en-US" dirty="0"/>
                        <a:t>特效</a:t>
                      </a:r>
                      <a:endParaRPr lang="en-US" altLang="zh-CN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dirty="0"/>
                        <a:t>其他技术（须说明，</a:t>
                      </a:r>
                      <a:r>
                        <a:rPr lang="zh-CN" altLang="en-US" dirty="0" smtClean="0"/>
                        <a:t>如独特的外观效果技术、</a:t>
                      </a:r>
                      <a:r>
                        <a:rPr lang="en-US" altLang="zh-CN" dirty="0" smtClean="0"/>
                        <a:t>html5</a:t>
                      </a:r>
                      <a:r>
                        <a:rPr lang="zh-CN" altLang="en-US" dirty="0" smtClean="0"/>
                        <a:t>、爬虫、性能优化技术、安全技术等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124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8779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4A1AB-D881-4972-8AE5-22E91C33F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7.12 </a:t>
            </a:r>
            <a:r>
              <a:rPr lang="zh-CN" altLang="en-US" dirty="0" smtClean="0"/>
              <a:t>中期报告的</a:t>
            </a:r>
            <a:r>
              <a:rPr lang="zh-CN" altLang="en-US" dirty="0"/>
              <a:t>提交要求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398A07-4BAF-4165-8294-97430BA5C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调查资料，提交</a:t>
            </a:r>
            <a:r>
              <a:rPr lang="en-US" altLang="zh-CN" dirty="0"/>
              <a:t>web</a:t>
            </a:r>
            <a:r>
              <a:rPr lang="zh-CN" altLang="en-US" dirty="0" smtClean="0"/>
              <a:t>项目中期作品（可以不完整）。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 smtClean="0"/>
              <a:t>能够体现以下内容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 smtClean="0"/>
              <a:t>功能设想</a:t>
            </a:r>
            <a:endParaRPr lang="en-US" altLang="zh-CN" dirty="0"/>
          </a:p>
          <a:p>
            <a:r>
              <a:rPr lang="zh-CN" altLang="en-US" dirty="0" smtClean="0"/>
              <a:t>项目进度</a:t>
            </a:r>
            <a:endParaRPr lang="en-US" altLang="zh-CN" dirty="0" smtClean="0"/>
          </a:p>
          <a:p>
            <a:r>
              <a:rPr lang="zh-CN" altLang="en-US" dirty="0" smtClean="0"/>
              <a:t>技术</a:t>
            </a:r>
            <a:r>
              <a:rPr lang="zh-CN" altLang="en-US" dirty="0"/>
              <a:t>路线初步计划</a:t>
            </a:r>
            <a:endParaRPr lang="en-US" altLang="zh-CN" dirty="0"/>
          </a:p>
          <a:p>
            <a:r>
              <a:rPr lang="zh-CN" altLang="en-US" dirty="0"/>
              <a:t>可以包含文字、构思图、伪代码</a:t>
            </a:r>
            <a:r>
              <a:rPr lang="zh-CN" altLang="en-US" dirty="0" smtClean="0"/>
              <a:t>等</a:t>
            </a:r>
            <a:endParaRPr lang="en-US" altLang="zh-CN" dirty="0"/>
          </a:p>
          <a:p>
            <a:r>
              <a:rPr lang="zh-CN" altLang="en-US" dirty="0"/>
              <a:t>技术资源网站：印记中文（</a:t>
            </a:r>
            <a:r>
              <a:rPr lang="en-US" altLang="zh-CN" dirty="0">
                <a:hlinkClick r:id="rId2"/>
              </a:rPr>
              <a:t>https://docschina.org/</a:t>
            </a:r>
            <a:r>
              <a:rPr lang="zh-CN" altLang="en-US" dirty="0"/>
              <a:t>）、稀土掘金（</a:t>
            </a:r>
            <a:r>
              <a:rPr lang="en-US" altLang="zh-CN" dirty="0">
                <a:hlinkClick r:id="rId3"/>
              </a:rPr>
              <a:t>https://juejin.cn/</a:t>
            </a:r>
            <a:r>
              <a:rPr lang="zh-CN" altLang="en-US" dirty="0"/>
              <a:t>）、脚本之家、</a:t>
            </a:r>
            <a:r>
              <a:rPr lang="en-US" altLang="zh-CN" dirty="0"/>
              <a:t>CSDN</a:t>
            </a:r>
            <a:r>
              <a:rPr lang="zh-CN" altLang="en-US" dirty="0"/>
              <a:t>（</a:t>
            </a:r>
            <a:r>
              <a:rPr lang="en-US" altLang="zh-CN" dirty="0">
                <a:hlinkClick r:id="rId4"/>
              </a:rPr>
              <a:t>https://www.csdn.net/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开源：开源中国、</a:t>
            </a:r>
            <a:r>
              <a:rPr lang="en-US" altLang="zh-CN" dirty="0" err="1" smtClean="0"/>
              <a:t>github</a:t>
            </a:r>
            <a:r>
              <a:rPr lang="zh-CN" altLang="en-US" dirty="0" smtClean="0"/>
              <a:t>等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630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CED6D4-9308-401E-B5FE-5A9A54B5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9792EC-7DF7-4EB1-8928-4C12B68A2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3545455559"/>
      </p:ext>
    </p:extLst>
  </p:cSld>
  <p:clrMapOvr>
    <a:masterClrMapping/>
  </p:clrMapOvr>
</p:sld>
</file>

<file path=ppt/theme/theme1.xml><?xml version="1.0" encoding="utf-8"?>
<a:theme xmlns:a="http://schemas.openxmlformats.org/drawingml/2006/main" name="A000120140530A99PPBG">
  <a:themeElements>
    <a:clrScheme name="自定义 104">
      <a:dk1>
        <a:srgbClr val="5F5F5F"/>
      </a:dk1>
      <a:lt1>
        <a:sysClr val="window" lastClr="FFFFFF"/>
      </a:lt1>
      <a:dk2>
        <a:srgbClr val="4D4D4D"/>
      </a:dk2>
      <a:lt2>
        <a:srgbClr val="FFFFFF"/>
      </a:lt2>
      <a:accent1>
        <a:srgbClr val="68B5F4"/>
      </a:accent1>
      <a:accent2>
        <a:srgbClr val="6374BD"/>
      </a:accent2>
      <a:accent3>
        <a:srgbClr val="7F96B7"/>
      </a:accent3>
      <a:accent4>
        <a:srgbClr val="A35D85"/>
      </a:accent4>
      <a:accent5>
        <a:srgbClr val="A06C6D"/>
      </a:accent5>
      <a:accent6>
        <a:srgbClr val="DE8E86"/>
      </a:accent6>
      <a:hlink>
        <a:srgbClr val="00B0F0"/>
      </a:hlink>
      <a:folHlink>
        <a:srgbClr val="949494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宋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A000120140929A75KPBG</Template>
  <TotalTime>90</TotalTime>
  <Words>766</Words>
  <Application>Microsoft Office PowerPoint</Application>
  <PresentationFormat>宽屏</PresentationFormat>
  <Paragraphs>72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宋体</vt:lpstr>
      <vt:lpstr>微软雅黑</vt:lpstr>
      <vt:lpstr>幼圆</vt:lpstr>
      <vt:lpstr>Arial</vt:lpstr>
      <vt:lpstr>Arial Black</vt:lpstr>
      <vt:lpstr>Wingdings 2</vt:lpstr>
      <vt:lpstr>Wingdings 3</vt:lpstr>
      <vt:lpstr>A000120140530A99PPBG</vt:lpstr>
      <vt:lpstr>期末项目作业</vt:lpstr>
      <vt:lpstr>项目启发： Javascript都能做什么</vt:lpstr>
      <vt:lpstr>PowerPoint 演示文稿</vt:lpstr>
      <vt:lpstr>PowerPoint 演示文稿</vt:lpstr>
      <vt:lpstr>期末项目作业</vt:lpstr>
      <vt:lpstr>PowerPoint 演示文稿</vt:lpstr>
      <vt:lpstr>评分标准</vt:lpstr>
      <vt:lpstr>7.12 中期报告的提交要求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分段项目作业</dc:title>
  <dc:creator>liu yan</dc:creator>
  <cp:lastModifiedBy>stu</cp:lastModifiedBy>
  <cp:revision>121</cp:revision>
  <dcterms:created xsi:type="dcterms:W3CDTF">2024-07-11T04:03:44Z</dcterms:created>
  <dcterms:modified xsi:type="dcterms:W3CDTF">2026-07-16T06:06:04Z</dcterms:modified>
</cp:coreProperties>
</file>